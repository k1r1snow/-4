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7" r:id="rId5"/>
    <p:sldId id="260" r:id="rId6"/>
    <p:sldId id="259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65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F0F4F-3884-22B3-A11F-82C6D4CDE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8337DF-D458-F66C-82B9-831CB8077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2734AB-3D2B-7D3B-A965-8F517056A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1210-D2BD-4EE6-AE87-8D6010B24818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5F6420-FBA6-3147-C8FD-7253C3739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011D6F-FC5E-83C9-19DD-694B0C60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74B69-E58D-4BEB-B583-13FDB6019F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95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73" y="498764"/>
            <a:ext cx="4804756" cy="48047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34545" y="4987636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6234545" y="1248987"/>
            <a:ext cx="598516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Приветствие и цель встречи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34545" y="2327564"/>
            <a:ext cx="5818909" cy="2177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ru-RU" sz="1400" dirty="0">
                <a:solidFill>
                  <a:srgbClr val="000000"/>
                </a:solidFill>
              </a:rPr>
              <a:t>Сегодня м</a:t>
            </a:r>
            <a:r>
              <a:rPr lang="en-US" sz="1400" dirty="0">
                <a:solidFill>
                  <a:srgbClr val="000000"/>
                </a:solidFill>
              </a:rPr>
              <a:t>ы разберём архитектуру информационной безопасности нашего финтех-банка. </a:t>
            </a:r>
            <a:r>
              <a:rPr lang="ru-RU" sz="1400" dirty="0">
                <a:solidFill>
                  <a:srgbClr val="000000"/>
                </a:solidFill>
              </a:rPr>
              <a:t>Мы хотим </a:t>
            </a:r>
            <a:r>
              <a:rPr lang="en-US" sz="1400" dirty="0" err="1">
                <a:solidFill>
                  <a:srgbClr val="000000"/>
                </a:solidFill>
              </a:rPr>
              <a:t>продемонстрировать</a:t>
            </a:r>
            <a:r>
              <a:rPr lang="en-US" sz="1400" dirty="0">
                <a:solidFill>
                  <a:srgbClr val="000000"/>
                </a:solidFill>
              </a:rPr>
              <a:t>, </a:t>
            </a:r>
            <a:r>
              <a:rPr lang="en-US" sz="1400" dirty="0" err="1">
                <a:solidFill>
                  <a:srgbClr val="000000"/>
                </a:solidFill>
              </a:rPr>
              <a:t>как</a:t>
            </a:r>
            <a:r>
              <a:rPr lang="en-US" sz="1400" dirty="0">
                <a:solidFill>
                  <a:srgbClr val="000000"/>
                </a:solidFill>
              </a:rPr>
              <a:t> ИБ </a:t>
            </a:r>
            <a:r>
              <a:rPr lang="en-US" sz="1400" dirty="0" err="1">
                <a:solidFill>
                  <a:srgbClr val="000000"/>
                </a:solidFill>
              </a:rPr>
              <a:t>встроена</a:t>
            </a:r>
            <a:r>
              <a:rPr lang="en-US" sz="1400" dirty="0">
                <a:solidFill>
                  <a:srgbClr val="000000"/>
                </a:solidFill>
              </a:rPr>
              <a:t> в </a:t>
            </a:r>
            <a:r>
              <a:rPr lang="en-US" sz="1400" dirty="0" err="1">
                <a:solidFill>
                  <a:srgbClr val="000000"/>
                </a:solidFill>
              </a:rPr>
              <a:t>бизнес-процессы</a:t>
            </a:r>
            <a:r>
              <a:rPr lang="en-US" sz="1400" dirty="0">
                <a:solidFill>
                  <a:srgbClr val="000000"/>
                </a:solidFill>
              </a:rPr>
              <a:t>, </a:t>
            </a:r>
            <a:r>
              <a:rPr lang="en-US" sz="1400" dirty="0" err="1">
                <a:solidFill>
                  <a:srgbClr val="000000"/>
                </a:solidFill>
              </a:rPr>
              <a:t>как</a:t>
            </a:r>
            <a:r>
              <a:rPr lang="en-US" sz="1400" dirty="0">
                <a:solidFill>
                  <a:srgbClr val="000000"/>
                </a:solidFill>
              </a:rPr>
              <a:t> мы измеряем риски, реагируем на инциденты и адаптируемся к </a:t>
            </a:r>
            <a:r>
              <a:rPr lang="en-US" sz="1400" dirty="0" err="1">
                <a:solidFill>
                  <a:srgbClr val="000000"/>
                </a:solidFill>
              </a:rPr>
              <a:t>меняющемуся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количеству </a:t>
            </a:r>
            <a:r>
              <a:rPr lang="en-US" sz="1400" dirty="0" err="1">
                <a:solidFill>
                  <a:srgbClr val="000000"/>
                </a:solidFill>
              </a:rPr>
              <a:t>угроз</a:t>
            </a:r>
            <a:r>
              <a:rPr lang="en-US" sz="1400" dirty="0">
                <a:solidFill>
                  <a:srgbClr val="000000"/>
                </a:solidFill>
              </a:rPr>
              <a:t>. Защита активов здесь </a:t>
            </a:r>
            <a:r>
              <a:rPr lang="en-US" sz="1400" dirty="0" err="1">
                <a:solidFill>
                  <a:srgbClr val="000000"/>
                </a:solidFill>
              </a:rPr>
              <a:t>рассматривается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как</a:t>
            </a:r>
            <a:r>
              <a:rPr lang="en-US" sz="1400" dirty="0">
                <a:solidFill>
                  <a:srgbClr val="000000"/>
                </a:solidFill>
              </a:rPr>
              <a:t> фундамент доверия клиентов и устойчивости бизнеса.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D03A66-B8EC-99FD-1A07-085C6FEC8051}"/>
              </a:ext>
            </a:extLst>
          </p:cNvPr>
          <p:cNvSpPr txBox="1"/>
          <p:nvPr/>
        </p:nvSpPr>
        <p:spPr>
          <a:xfrm>
            <a:off x="6657174" y="4987636"/>
            <a:ext cx="18053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Выполнили:</a:t>
            </a:r>
          </a:p>
          <a:p>
            <a:r>
              <a:rPr lang="ru-RU" dirty="0"/>
              <a:t>Зинченко Семен</a:t>
            </a:r>
          </a:p>
          <a:p>
            <a:r>
              <a:rPr lang="ru-RU" dirty="0"/>
              <a:t>Кучумов Марк</a:t>
            </a:r>
          </a:p>
          <a:p>
            <a:r>
              <a:rPr lang="ru-RU" dirty="0"/>
              <a:t>Моров Матвей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8728364" y="2078182"/>
            <a:ext cx="3325091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33734-2D40-5846-2FAD-3ABEF3E322BA}"/>
              </a:ext>
            </a:extLst>
          </p:cNvPr>
          <p:cNvSpPr txBox="1"/>
          <p:nvPr/>
        </p:nvSpPr>
        <p:spPr>
          <a:xfrm>
            <a:off x="631271" y="1520337"/>
            <a:ext cx="6094602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ru-RU" sz="1600" b="1" u="none" strike="noStrike" dirty="0">
                <a:effectLst/>
              </a:rPr>
              <a:t>Масштаб и формат</a:t>
            </a:r>
            <a:r>
              <a:rPr lang="ru-RU" sz="1600" b="0" u="none" strike="noStrike" dirty="0">
                <a:effectLst/>
              </a:rPr>
              <a:t>: У нас большая команда - более 5 000 человек и 150 офисов. Мы работаем в смешанном режиме (часть из дома, часть из офиса).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ru-RU" sz="1600" b="1" u="none" strike="noStrike" dirty="0">
                <a:effectLst/>
              </a:rPr>
              <a:t>Технологии</a:t>
            </a:r>
            <a:r>
              <a:rPr lang="ru-RU" sz="1600" b="0" u="none" strike="noStrike" dirty="0">
                <a:effectLst/>
              </a:rPr>
              <a:t>: Основные банковские системы (АБС) установлены на наших собственных серверах, а сервисы для клиентов работают в защищенном частном облаке. Главные точки управления</a:t>
            </a:r>
            <a:r>
              <a:rPr lang="en-US" sz="1600" b="0" u="none" strike="noStrike" dirty="0">
                <a:effectLst/>
              </a:rPr>
              <a:t>:</a:t>
            </a:r>
            <a:r>
              <a:rPr lang="ru-RU" sz="1600" b="0" u="none" strike="noStrike" dirty="0">
                <a:effectLst/>
              </a:rPr>
              <a:t> штаб-квартира, ИТ-хаб и центры обработки данных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CC90BF-F759-53D2-F643-7AFF677B19AC}"/>
              </a:ext>
            </a:extLst>
          </p:cNvPr>
          <p:cNvSpPr txBox="1"/>
          <p:nvPr/>
        </p:nvSpPr>
        <p:spPr>
          <a:xfrm>
            <a:off x="698383" y="568775"/>
            <a:ext cx="6094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ru-RU" sz="2400" b="1" u="none" strike="noStrike" dirty="0">
                <a:effectLst/>
              </a:rPr>
              <a:t>О нашей компании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0285D2-7B43-D076-2559-CAB50A425077}"/>
              </a:ext>
            </a:extLst>
          </p:cNvPr>
          <p:cNvSpPr txBox="1"/>
          <p:nvPr/>
        </p:nvSpPr>
        <p:spPr>
          <a:xfrm>
            <a:off x="5027103" y="3973830"/>
            <a:ext cx="6094602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ru-RU" sz="1600" b="1" u="none" strike="noStrike" dirty="0">
                <a:effectLst/>
              </a:rPr>
              <a:t>Безопасность</a:t>
            </a:r>
            <a:r>
              <a:rPr lang="ru-RU" sz="1600" b="0" u="none" strike="noStrike" dirty="0">
                <a:effectLst/>
              </a:rPr>
              <a:t>: Защита информации - наш приоритет. Главный по безопасности подчиняется напрямую Совету директоров. Это сделано специально, чтобы на решения по защите данных никто не мог надавить.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ru-RU" sz="1600" b="1" u="none" strike="noStrike" dirty="0">
                <a:effectLst/>
              </a:rPr>
              <a:t>Круглосуточный контроль</a:t>
            </a:r>
            <a:r>
              <a:rPr lang="ru-RU" sz="1600" b="0" u="none" strike="noStrike" dirty="0">
                <a:effectLst/>
              </a:rPr>
              <a:t>: У нас есть собственный центр безопасности</a:t>
            </a:r>
            <a:r>
              <a:rPr lang="en-US" sz="1600" b="0" u="none" strike="noStrike" dirty="0">
                <a:effectLst/>
              </a:rPr>
              <a:t>, </a:t>
            </a:r>
            <a:r>
              <a:rPr lang="ru-RU" sz="1600" b="0" u="none" strike="noStrike" dirty="0">
                <a:effectLst/>
              </a:rPr>
              <a:t>который следит за порядком 24/7. В нем работают аналитики трех уровней подготовки, чтобы не пропустить ни одну угрозу.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4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6168044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4696691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Оценка рисков и угроз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696691" y="2078182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779818" y="1664624"/>
            <a:ext cx="5818909" cy="36456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Комитет по рискам переводит каждый киберинцидент в денежный эквивалент. </a:t>
            </a:r>
            <a:endParaRPr lang="ru-RU" sz="1600" dirty="0">
              <a:solidFill>
                <a:srgbClr val="000000"/>
              </a:solidFill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600" dirty="0" err="1">
                <a:solidFill>
                  <a:srgbClr val="000000"/>
                </a:solidFill>
              </a:rPr>
              <a:t>Наши</a:t>
            </a:r>
            <a:r>
              <a:rPr lang="en-US" sz="1600" dirty="0">
                <a:solidFill>
                  <a:srgbClr val="000000"/>
                </a:solidFill>
              </a:rPr>
              <a:t> приоритеты: </a:t>
            </a:r>
            <a:endParaRPr lang="ru-RU" sz="1600" dirty="0">
              <a:solidFill>
                <a:srgbClr val="000000"/>
              </a:solidFill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Захватят компьютер администратора</a:t>
            </a:r>
            <a:r>
              <a:rPr lang="en-US" sz="1600" dirty="0">
                <a:solidFill>
                  <a:srgbClr val="000000"/>
                </a:solidFill>
              </a:rPr>
              <a:t>(критический уровень), </a:t>
            </a:r>
            <a:endParaRPr lang="ru-RU" sz="1600" dirty="0">
              <a:solidFill>
                <a:srgbClr val="000000"/>
              </a:solidFill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DDoS на клиентские сервисы и утечки через </a:t>
            </a:r>
            <a:r>
              <a:rPr lang="en-US" sz="1600" dirty="0" err="1">
                <a:solidFill>
                  <a:srgbClr val="000000"/>
                </a:solidFill>
              </a:rPr>
              <a:t>инсайдеров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  <a:endParaRPr lang="ru-RU" sz="1600" dirty="0">
              <a:solidFill>
                <a:srgbClr val="000000"/>
              </a:solidFill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Классический взлом веб-сайта здесь оценивается как низкий </a:t>
            </a:r>
            <a:r>
              <a:rPr lang="en-US" sz="1600" dirty="0" err="1">
                <a:solidFill>
                  <a:srgbClr val="000000"/>
                </a:solidFill>
              </a:rPr>
              <a:t>риск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-</a:t>
            </a:r>
            <a:r>
              <a:rPr lang="en-US" sz="1600" dirty="0">
                <a:solidFill>
                  <a:srgbClr val="000000"/>
                </a:solidFill>
              </a:rPr>
              <a:t> ущерб ограничен репутацией, а не деньгами или данными. </a:t>
            </a:r>
            <a:br>
              <a:rPr lang="ru-RU" sz="1600" dirty="0">
                <a:solidFill>
                  <a:srgbClr val="000000"/>
                </a:solidFill>
              </a:rPr>
            </a:br>
            <a:r>
              <a:rPr lang="en-US" sz="1600" dirty="0" err="1">
                <a:solidFill>
                  <a:srgbClr val="000000"/>
                </a:solidFill>
              </a:rPr>
              <a:t>Для</a:t>
            </a:r>
            <a:r>
              <a:rPr lang="en-US" sz="1600" dirty="0">
                <a:solidFill>
                  <a:srgbClr val="000000"/>
                </a:solidFill>
              </a:rPr>
              <a:t> минимизации рисков мы внедряем многоуровневую систему защиты, включающую мониторинг, шифрование данных и регулярные аудиты безопасности.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0B0842-D35B-C98C-146F-C9549231CBA3}"/>
              </a:ext>
            </a:extLst>
          </p:cNvPr>
          <p:cNvSpPr txBox="1"/>
          <p:nvPr/>
        </p:nvSpPr>
        <p:spPr>
          <a:xfrm>
            <a:off x="1439256" y="2443570"/>
            <a:ext cx="32066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ФЗ-152</a:t>
            </a:r>
            <a:r>
              <a:rPr lang="ru-RU" dirty="0"/>
              <a:t> — защита персональных данных клиентов.</a:t>
            </a:r>
          </a:p>
          <a:p>
            <a:r>
              <a:rPr lang="ru-RU" b="1" dirty="0"/>
              <a:t>ФЗ-187</a:t>
            </a:r>
            <a:r>
              <a:rPr lang="ru-RU" dirty="0"/>
              <a:t> — безопасность критической инфраструктуры.</a:t>
            </a:r>
            <a:r>
              <a:rPr lang="ru-RU" b="1" dirty="0"/>
              <a:t> ГОСТ Р 57580</a:t>
            </a:r>
            <a:r>
              <a:rPr lang="ru-RU" dirty="0"/>
              <a:t> — единый стандарт защиты финансовых операций.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AA22B-C3D6-DB92-7A01-89C731E7E051}"/>
              </a:ext>
            </a:extLst>
          </p:cNvPr>
          <p:cNvSpPr txBox="1"/>
          <p:nvPr/>
        </p:nvSpPr>
        <p:spPr>
          <a:xfrm>
            <a:off x="784915" y="1196848"/>
            <a:ext cx="2520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Законы и ГОСТы</a:t>
            </a:r>
          </a:p>
        </p:txBody>
      </p:sp>
      <p:pic>
        <p:nvPicPr>
          <p:cNvPr id="1026" name="Picture 2" descr="Законодательство Изображения – скачать бесплатно на Freepik">
            <a:extLst>
              <a:ext uri="{FF2B5EF4-FFF2-40B4-BE49-F238E27FC236}">
                <a16:creationId xmlns:a16="http://schemas.microsoft.com/office/drawing/2014/main" id="{9C54A18F-2E7F-1B3D-2434-2A4999E4C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652" y="2273925"/>
            <a:ext cx="2831154" cy="2831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644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455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Архитектура ИБ и логика защиты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2" y="1664624"/>
            <a:ext cx="5818909" cy="227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000000"/>
                </a:solidFill>
              </a:rPr>
              <a:t>Архитектура базируется на трёх принципах: </a:t>
            </a:r>
            <a:endParaRPr lang="ru-RU" sz="1400" dirty="0">
              <a:solidFill>
                <a:srgbClr val="000000"/>
              </a:solidFill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Мы н</a:t>
            </a:r>
            <a:r>
              <a:rPr lang="en-US" sz="1400" dirty="0" err="1">
                <a:solidFill>
                  <a:srgbClr val="000000"/>
                </a:solidFill>
              </a:rPr>
              <a:t>икому</a:t>
            </a:r>
            <a:r>
              <a:rPr lang="en-US" sz="1400" dirty="0">
                <a:solidFill>
                  <a:srgbClr val="000000"/>
                </a:solidFill>
              </a:rPr>
              <a:t> не доверяем </a:t>
            </a:r>
            <a:r>
              <a:rPr lang="en-US" sz="1400" dirty="0" err="1">
                <a:solidFill>
                  <a:srgbClr val="000000"/>
                </a:solidFill>
              </a:rPr>
              <a:t>по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умолчанию</a:t>
            </a:r>
            <a:r>
              <a:rPr lang="ru-RU" sz="1400" dirty="0">
                <a:solidFill>
                  <a:srgbClr val="000000"/>
                </a:solidFill>
              </a:rPr>
              <a:t>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400" dirty="0"/>
              <a:t>Мы не держим всё в одной куче. Важные данные отделены друг от друга</a:t>
            </a:r>
            <a:endParaRPr lang="ru-RU" sz="1400" dirty="0">
              <a:solidFill>
                <a:srgbClr val="000000"/>
              </a:solidFill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Чтобы добраться до самого ценного, взломщику нужно преодолеть минимум три разные преграды. Если одна не сработает, две другие остановят атаку.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009207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1" y="4368719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ru-RU" sz="1400" dirty="0">
                <a:solidFill>
                  <a:srgbClr val="000000"/>
                </a:solidFill>
              </a:rPr>
              <a:t>Также р</a:t>
            </a:r>
            <a:r>
              <a:rPr lang="en-US" sz="1400" dirty="0" err="1">
                <a:solidFill>
                  <a:srgbClr val="000000"/>
                </a:solidFill>
              </a:rPr>
              <a:t>егулярно</a:t>
            </a:r>
            <a:r>
              <a:rPr lang="en-US" sz="1400" dirty="0">
                <a:solidFill>
                  <a:srgbClr val="000000"/>
                </a:solidFill>
              </a:rPr>
              <a:t> проводим аудит и обновление систем защиты для предотвращения новых угроз.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Технические средства (по уровням защиты)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379987" y="1407824"/>
            <a:ext cx="5691931" cy="4545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ru-RU" sz="1600" dirty="0">
                <a:solidFill>
                  <a:srgbClr val="000000"/>
                </a:solidFill>
              </a:rPr>
              <a:t>Мы построили архитектуру </a:t>
            </a:r>
            <a:r>
              <a:rPr lang="en-US" sz="1600" dirty="0" err="1">
                <a:solidFill>
                  <a:srgbClr val="000000"/>
                </a:solidFill>
              </a:rPr>
              <a:t>по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принципу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эшелонированной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обороны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00000"/>
                </a:solidFill>
              </a:rPr>
              <a:t>Периметр</a:t>
            </a:r>
            <a:r>
              <a:rPr lang="en-US" sz="1600" dirty="0">
                <a:solidFill>
                  <a:srgbClr val="000000"/>
                </a:solidFill>
              </a:rPr>
              <a:t>: </a:t>
            </a:r>
            <a:br>
              <a:rPr lang="ru-RU" sz="1600" dirty="0">
                <a:solidFill>
                  <a:srgbClr val="000000"/>
                </a:solidFill>
              </a:rPr>
            </a:br>
            <a:r>
              <a:rPr lang="ru-RU" sz="1600" dirty="0">
                <a:solidFill>
                  <a:srgbClr val="000000"/>
                </a:solidFill>
              </a:rPr>
              <a:t>Умный фильтр который проверяет весь входящий трафик, отсеивая вирусы и атаки на личные кабинеты клиентов.</a:t>
            </a:r>
            <a:br>
              <a:rPr lang="ru-RU" sz="1600" dirty="0">
                <a:solidFill>
                  <a:srgbClr val="000000"/>
                </a:solidFill>
              </a:rPr>
            </a:br>
            <a:r>
              <a:rPr lang="ru-RU" sz="1600" dirty="0" err="1">
                <a:solidFill>
                  <a:srgbClr val="000000"/>
                </a:solidFill>
              </a:rPr>
              <a:t>DDoS-митигация</a:t>
            </a:r>
            <a:r>
              <a:rPr lang="ru-RU" sz="1600" dirty="0">
                <a:solidFill>
                  <a:srgbClr val="000000"/>
                </a:solidFill>
              </a:rPr>
              <a:t>, чтобы сайт и приложение не упали, если их завалят запросами.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</a:rPr>
              <a:t>Защита техники</a:t>
            </a:r>
            <a:r>
              <a:rPr lang="en-US" sz="1600" dirty="0">
                <a:solidFill>
                  <a:srgbClr val="000000"/>
                </a:solidFill>
              </a:rPr>
              <a:t>:</a:t>
            </a:r>
            <a:r>
              <a:rPr lang="ru-RU" sz="1600" dirty="0">
                <a:solidFill>
                  <a:srgbClr val="000000"/>
                </a:solidFill>
              </a:rPr>
              <a:t> </a:t>
            </a:r>
            <a:br>
              <a:rPr lang="ru-RU" sz="1600" dirty="0">
                <a:solidFill>
                  <a:srgbClr val="000000"/>
                </a:solidFill>
              </a:rPr>
            </a:br>
            <a:r>
              <a:rPr lang="ru-RU" sz="1600" dirty="0">
                <a:solidFill>
                  <a:srgbClr val="000000"/>
                </a:solidFill>
              </a:rPr>
              <a:t>Строгий контроль на рабочих устройствах можно запускать только одобренные программы, ничего лишнего.</a:t>
            </a:r>
            <a:br>
              <a:rPr lang="ru-RU" sz="1600" dirty="0">
                <a:solidFill>
                  <a:srgbClr val="000000"/>
                </a:solidFill>
              </a:rPr>
            </a:br>
            <a:r>
              <a:rPr lang="ru-RU" sz="1600" dirty="0">
                <a:solidFill>
                  <a:srgbClr val="000000"/>
                </a:solidFill>
              </a:rPr>
              <a:t>Также мы поставили защиту от утечек, которая блокирует попытки переслать секретные документы на личную почту или на флешку.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Базы данных и серверы</a:t>
            </a:r>
            <a:r>
              <a:rPr lang="en-US" sz="1600" dirty="0">
                <a:solidFill>
                  <a:srgbClr val="000000"/>
                </a:solidFill>
              </a:rPr>
              <a:t>: </a:t>
            </a:r>
            <a:br>
              <a:rPr lang="ru-RU" sz="1600" dirty="0">
                <a:solidFill>
                  <a:srgbClr val="000000"/>
                </a:solidFill>
              </a:rPr>
            </a:br>
            <a:r>
              <a:rPr lang="ru-RU" sz="1600" dirty="0">
                <a:solidFill>
                  <a:srgbClr val="000000"/>
                </a:solidFill>
              </a:rPr>
              <a:t>Мы видим каждый запрос к данным клиентов: кто, когда и зачем их смотрел.</a:t>
            </a:r>
            <a:br>
              <a:rPr lang="ru-RU" sz="1600" dirty="0">
                <a:solidFill>
                  <a:srgbClr val="000000"/>
                </a:solidFill>
              </a:rPr>
            </a:br>
            <a:r>
              <a:rPr lang="ru-RU" sz="1600" dirty="0"/>
              <a:t>Вся сеть разбита на маленькие изолированные комнаты. Если взломают одну, хакер не сможет пройти в соседнюю.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40441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833351"/>
            <a:ext cx="10141527" cy="58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Глобальные тренды и их интеграция в стратегию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2078182"/>
            <a:ext cx="3325091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Рынок угроз меняется быстрее, чем традиционные циклы обновления ИБ.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0" y="2061745"/>
            <a:ext cx="3325091" cy="3447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000000"/>
                </a:solidFill>
              </a:rPr>
              <a:t>Поэтому</a:t>
            </a:r>
            <a:r>
              <a:rPr lang="en-US" sz="1400" dirty="0">
                <a:solidFill>
                  <a:srgbClr val="000000"/>
                </a:solidFill>
              </a:rPr>
              <a:t> мы </a:t>
            </a:r>
            <a:r>
              <a:rPr lang="en-US" sz="1400" dirty="0" err="1">
                <a:solidFill>
                  <a:srgbClr val="000000"/>
                </a:solidFill>
              </a:rPr>
              <a:t>заложили</a:t>
            </a:r>
            <a:r>
              <a:rPr lang="en-US" sz="1400" dirty="0">
                <a:solidFill>
                  <a:srgbClr val="000000"/>
                </a:solidFill>
              </a:rPr>
              <a:t> в </a:t>
            </a:r>
            <a:r>
              <a:rPr lang="en-US" sz="1400" dirty="0" err="1">
                <a:solidFill>
                  <a:srgbClr val="000000"/>
                </a:solidFill>
              </a:rPr>
              <a:t>стратегию</a:t>
            </a:r>
            <a:r>
              <a:rPr lang="ru-RU" sz="1400" dirty="0">
                <a:solidFill>
                  <a:srgbClr val="000000"/>
                </a:solidFill>
              </a:rPr>
              <a:t> которая следует </a:t>
            </a:r>
            <a:r>
              <a:rPr lang="en-US" sz="1400" dirty="0" err="1">
                <a:solidFill>
                  <a:srgbClr val="000000"/>
                </a:solidFill>
              </a:rPr>
              <a:t>четыр</a:t>
            </a:r>
            <a:r>
              <a:rPr lang="ru-RU" sz="1400" dirty="0" err="1">
                <a:solidFill>
                  <a:srgbClr val="000000"/>
                </a:solidFill>
              </a:rPr>
              <a:t>ём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глобальны</a:t>
            </a:r>
            <a:r>
              <a:rPr lang="ru-RU" sz="1400" dirty="0">
                <a:solidFill>
                  <a:srgbClr val="000000"/>
                </a:solidFill>
              </a:rPr>
              <a:t>м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тренд</a:t>
            </a:r>
            <a:r>
              <a:rPr lang="ru-RU" sz="1400" dirty="0" err="1">
                <a:solidFill>
                  <a:srgbClr val="000000"/>
                </a:solidFill>
              </a:rPr>
              <a:t>ам</a:t>
            </a:r>
            <a:r>
              <a:rPr lang="en-US" sz="1400" dirty="0">
                <a:solidFill>
                  <a:srgbClr val="000000"/>
                </a:solidFill>
              </a:rPr>
              <a:t>. </a:t>
            </a:r>
            <a:endParaRPr lang="ru-RU" sz="1400" dirty="0">
              <a:solidFill>
                <a:srgbClr val="000000"/>
              </a:solidFill>
            </a:endParaRPr>
          </a:p>
          <a:p>
            <a:pPr marL="0" indent="0" algn="l">
              <a:lnSpc>
                <a:spcPts val="2000"/>
              </a:lnSpc>
              <a:buNone/>
            </a:pPr>
            <a:br>
              <a:rPr lang="ru-RU" sz="1400" dirty="0">
                <a:solidFill>
                  <a:srgbClr val="000000"/>
                </a:solidFill>
              </a:rPr>
            </a:br>
            <a:r>
              <a:rPr lang="en-US" sz="1400" b="1" dirty="0">
                <a:solidFill>
                  <a:srgbClr val="000000"/>
                </a:solidFill>
              </a:rPr>
              <a:t>SASE/SSE</a:t>
            </a:r>
            <a:r>
              <a:rPr lang="en-US" sz="1400" dirty="0">
                <a:solidFill>
                  <a:srgbClr val="000000"/>
                </a:solidFill>
              </a:rPr>
              <a:t>.</a:t>
            </a:r>
            <a:r>
              <a:rPr lang="ru-RU" sz="1400" dirty="0">
                <a:solidFill>
                  <a:srgbClr val="000000"/>
                </a:solidFill>
              </a:rPr>
              <a:t> </a:t>
            </a:r>
            <a:r>
              <a:rPr lang="ru-RU" sz="1400" dirty="0"/>
              <a:t>Функции защиты (фильтры, проверка паролей, антивирусы) переезжают в облако, чтобы работники могли безопасно заходить в рабочую почту из дома.</a:t>
            </a:r>
            <a:endParaRPr lang="ru-RU" sz="1400" dirty="0">
              <a:solidFill>
                <a:srgbClr val="000000"/>
              </a:solidFill>
            </a:endParaRPr>
          </a:p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000000"/>
                </a:solidFill>
              </a:rPr>
              <a:t>AI в </a:t>
            </a:r>
            <a:r>
              <a:rPr lang="en-US" sz="1400" b="1" dirty="0" err="1">
                <a:solidFill>
                  <a:srgbClr val="000000"/>
                </a:solidFill>
              </a:rPr>
              <a:t>защите</a:t>
            </a:r>
            <a:r>
              <a:rPr lang="en-US" sz="1400" b="1" dirty="0">
                <a:solidFill>
                  <a:srgbClr val="000000"/>
                </a:solidFill>
              </a:rPr>
              <a:t>:</a:t>
            </a:r>
            <a:r>
              <a:rPr lang="ru-RU" sz="1400" dirty="0">
                <a:solidFill>
                  <a:srgbClr val="000000"/>
                </a:solidFill>
              </a:rPr>
              <a:t> ИИ </a:t>
            </a:r>
            <a:r>
              <a:rPr lang="ru-RU" sz="1400" dirty="0" err="1"/>
              <a:t>изучаюет</a:t>
            </a:r>
            <a:r>
              <a:rPr lang="ru-RU" sz="1400" dirty="0"/>
              <a:t> типичное поведение сотрудников. Если происходит что-то стандартное, робот сам закрывает задачу. Если что-то реально опасное — передает человеку.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28364" y="2078182"/>
            <a:ext cx="3325091" cy="2510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000000"/>
                </a:solidFill>
              </a:rPr>
              <a:t>Infrastructure as Code</a:t>
            </a:r>
            <a:r>
              <a:rPr lang="en-US" sz="1400" dirty="0">
                <a:solidFill>
                  <a:srgbClr val="000000"/>
                </a:solidFill>
              </a:rPr>
              <a:t>: </a:t>
            </a:r>
            <a:br>
              <a:rPr lang="ru-RU" sz="1400" dirty="0">
                <a:solidFill>
                  <a:srgbClr val="000000"/>
                </a:solidFill>
              </a:rPr>
            </a:br>
            <a:r>
              <a:rPr lang="ru-RU" sz="1400" dirty="0">
                <a:solidFill>
                  <a:srgbClr val="000000"/>
                </a:solidFill>
              </a:rPr>
              <a:t>Теперь все настройки безопасности записываются в виде текстового кода, чтобы не возникал </a:t>
            </a:r>
            <a:r>
              <a:rPr lang="en-US" sz="1400" dirty="0">
                <a:solidFill>
                  <a:srgbClr val="000000"/>
                </a:solidFill>
              </a:rPr>
              <a:t>“</a:t>
            </a:r>
            <a:r>
              <a:rPr lang="ru-RU" sz="1400" dirty="0">
                <a:solidFill>
                  <a:srgbClr val="000000"/>
                </a:solidFill>
              </a:rPr>
              <a:t>человеческий фактор</a:t>
            </a:r>
            <a:r>
              <a:rPr lang="en-US" sz="1400" dirty="0">
                <a:solidFill>
                  <a:srgbClr val="000000"/>
                </a:solidFill>
              </a:rPr>
              <a:t>”</a:t>
            </a:r>
            <a:br>
              <a:rPr lang="ru-RU" sz="1400" dirty="0">
                <a:solidFill>
                  <a:srgbClr val="000000"/>
                </a:solidFill>
              </a:rPr>
            </a:br>
            <a:r>
              <a:rPr lang="en-US" sz="1400" b="1" dirty="0">
                <a:solidFill>
                  <a:srgbClr val="000000"/>
                </a:solidFill>
              </a:rPr>
              <a:t>Continuous Validation</a:t>
            </a:r>
            <a:r>
              <a:rPr lang="en-US" sz="1400" dirty="0">
                <a:solidFill>
                  <a:srgbClr val="000000"/>
                </a:solidFill>
              </a:rPr>
              <a:t>: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ru-RU" sz="1400" dirty="0">
                <a:solidFill>
                  <a:srgbClr val="000000"/>
                </a:solidFill>
              </a:rPr>
              <a:t>В систему встраиваются скрипты-имитаторы, которые постоянно пытаются найти слабые места.</a:t>
            </a:r>
            <a:endParaRPr lang="en-US" sz="1400" dirty="0"/>
          </a:p>
        </p:txBody>
      </p:sp>
      <p:pic>
        <p:nvPicPr>
          <p:cNvPr id="1028" name="Picture 4" descr="7 Трендов Продаж и Маркетинга для Стратегии в 2025 Году | ProResult">
            <a:extLst>
              <a:ext uri="{FF2B5EF4-FFF2-40B4-BE49-F238E27FC236}">
                <a16:creationId xmlns:a16="http://schemas.microsoft.com/office/drawing/2014/main" id="{734DBE7E-B7F3-C29C-FB51-40FEDEB67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51" y="3162027"/>
            <a:ext cx="3584983" cy="2347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5835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98764"/>
            <a:ext cx="46800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57203" y="498764"/>
            <a:ext cx="5985164" cy="9809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000000"/>
                </a:solidFill>
              </a:rPr>
              <a:t>Современные подходы: Kill Chain + </a:t>
            </a:r>
            <a:r>
              <a:rPr lang="en-US" sz="2400" b="1" dirty="0"/>
              <a:t>MITRE ATT&amp;CK</a:t>
            </a:r>
            <a:endParaRPr lang="en-US" sz="2200" b="1" dirty="0"/>
          </a:p>
        </p:txBody>
      </p:sp>
      <p:sp>
        <p:nvSpPr>
          <p:cNvPr id="6" name="Text 2"/>
          <p:cNvSpPr/>
          <p:nvPr/>
        </p:nvSpPr>
        <p:spPr>
          <a:xfrm>
            <a:off x="797717" y="1762299"/>
            <a:ext cx="5818909" cy="1861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en-US" sz="1400" dirty="0" err="1">
                <a:solidFill>
                  <a:srgbClr val="000000"/>
                </a:solidFill>
              </a:rPr>
              <a:t>Наша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задача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-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сместить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фокус</a:t>
            </a:r>
            <a:r>
              <a:rPr lang="en-US" sz="1400" dirty="0">
                <a:solidFill>
                  <a:srgbClr val="000000"/>
                </a:solidFill>
              </a:rPr>
              <a:t> с </a:t>
            </a:r>
            <a:r>
              <a:rPr lang="ru-RU" sz="1400" dirty="0">
                <a:solidFill>
                  <a:srgbClr val="000000"/>
                </a:solidFill>
              </a:rPr>
              <a:t>устранения последствий на более активную позицию с разрывом </a:t>
            </a:r>
            <a:r>
              <a:rPr lang="en-US" sz="1400" dirty="0">
                <a:solidFill>
                  <a:srgbClr val="000000"/>
                </a:solidFill>
              </a:rPr>
              <a:t>Kill </a:t>
            </a:r>
            <a:r>
              <a:rPr lang="en-US" sz="1400" dirty="0" err="1">
                <a:solidFill>
                  <a:srgbClr val="000000"/>
                </a:solidFill>
              </a:rPr>
              <a:t>Chain’a</a:t>
            </a:r>
            <a:r>
              <a:rPr lang="ru-RU" sz="1400" dirty="0">
                <a:solidFill>
                  <a:srgbClr val="000000"/>
                </a:solidFill>
              </a:rPr>
              <a:t>.</a:t>
            </a:r>
            <a:br>
              <a:rPr lang="ru-RU" sz="1400" dirty="0">
                <a:solidFill>
                  <a:srgbClr val="000000"/>
                </a:solidFill>
              </a:rPr>
            </a:br>
            <a:r>
              <a:rPr lang="en-US" sz="1400" dirty="0">
                <a:solidFill>
                  <a:srgbClr val="000000"/>
                </a:solidFill>
              </a:rPr>
              <a:t>Kill Chain (</a:t>
            </a:r>
            <a:r>
              <a:rPr lang="ru-RU" sz="1400" dirty="0">
                <a:solidFill>
                  <a:srgbClr val="000000"/>
                </a:solidFill>
              </a:rPr>
              <a:t>Цепочка нападения)</a:t>
            </a:r>
            <a:r>
              <a:rPr lang="en-US" sz="1400" dirty="0">
                <a:solidFill>
                  <a:srgbClr val="000000"/>
                </a:solidFill>
              </a:rPr>
              <a:t>:</a:t>
            </a:r>
            <a:r>
              <a:rPr lang="ru-RU" sz="1400" dirty="0">
                <a:solidFill>
                  <a:srgbClr val="000000"/>
                </a:solidFill>
              </a:rPr>
              <a:t> Последовательность событий, которая приводит к взлому. Например</a:t>
            </a:r>
            <a:r>
              <a:rPr lang="en-US" sz="1400" dirty="0">
                <a:solidFill>
                  <a:srgbClr val="000000"/>
                </a:solidFill>
              </a:rPr>
              <a:t>: </a:t>
            </a:r>
            <a:r>
              <a:rPr lang="ru-RU" sz="1400" dirty="0">
                <a:solidFill>
                  <a:srgbClr val="000000"/>
                </a:solidFill>
              </a:rPr>
              <a:t>хакер ищет слабые места на сайте, присылает вирус (например, под видом счета в письме), Вирус запускается на компьютере. Всё, хакер может </a:t>
            </a:r>
            <a:r>
              <a:rPr lang="ru-RU" sz="1400" dirty="0" err="1">
                <a:solidFill>
                  <a:srgbClr val="000000"/>
                </a:solidFill>
              </a:rPr>
              <a:t>украть</a:t>
            </a:r>
            <a:r>
              <a:rPr lang="ru-RU" sz="1400" dirty="0">
                <a:solidFill>
                  <a:srgbClr val="000000"/>
                </a:solidFill>
              </a:rPr>
              <a:t> данные.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740727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ru-RU" sz="1400" dirty="0">
                <a:solidFill>
                  <a:srgbClr val="000000"/>
                </a:solidFill>
              </a:rPr>
              <a:t>Так что н</a:t>
            </a:r>
            <a:r>
              <a:rPr lang="en-US" sz="1400" dirty="0" err="1">
                <a:solidFill>
                  <a:srgbClr val="000000"/>
                </a:solidFill>
              </a:rPr>
              <a:t>аша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цель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-</a:t>
            </a:r>
            <a:r>
              <a:rPr lang="en-US" sz="1400" dirty="0">
                <a:solidFill>
                  <a:srgbClr val="000000"/>
                </a:solidFill>
              </a:rPr>
              <a:t> разорвать цепь на </a:t>
            </a:r>
            <a:r>
              <a:rPr lang="en-US" sz="1400" dirty="0" err="1">
                <a:solidFill>
                  <a:srgbClr val="000000"/>
                </a:solidFill>
              </a:rPr>
              <a:t>этапах</a:t>
            </a:r>
            <a:r>
              <a:rPr lang="en-US" sz="1400" dirty="0">
                <a:solidFill>
                  <a:srgbClr val="000000"/>
                </a:solidFill>
              </a:rPr>
              <a:t> 1</a:t>
            </a:r>
            <a:r>
              <a:rPr lang="ru-RU" sz="1400" dirty="0">
                <a:solidFill>
                  <a:srgbClr val="000000"/>
                </a:solidFill>
              </a:rPr>
              <a:t>-</a:t>
            </a:r>
            <a:r>
              <a:rPr lang="en-US" sz="1400" dirty="0">
                <a:solidFill>
                  <a:srgbClr val="000000"/>
                </a:solidFill>
              </a:rPr>
              <a:t>3. </a:t>
            </a:r>
            <a:endParaRPr lang="ru-RU" sz="1400" dirty="0">
              <a:solidFill>
                <a:srgbClr val="000000"/>
              </a:solidFill>
            </a:endParaRPr>
          </a:p>
          <a:p>
            <a:pPr>
              <a:lnSpc>
                <a:spcPts val="2000"/>
              </a:lnSpc>
            </a:pPr>
            <a:r>
              <a:rPr lang="ru-RU" sz="1400" dirty="0">
                <a:solidFill>
                  <a:srgbClr val="000000"/>
                </a:solidFill>
              </a:rPr>
              <a:t>Все подозрительные файлы и письма сначала открываются в специальной "безопасной среде" (песочнице). Если там вирус - он сработает внутри бокса и не попадёт в банк.</a:t>
            </a:r>
          </a:p>
          <a:p>
            <a:pPr>
              <a:lnSpc>
                <a:spcPts val="2000"/>
              </a:lnSpc>
            </a:pPr>
            <a:r>
              <a:rPr lang="ru-RU" sz="1400" dirty="0">
                <a:solidFill>
                  <a:srgbClr val="000000"/>
                </a:solidFill>
              </a:rPr>
              <a:t>А так же мы используем </a:t>
            </a:r>
            <a:r>
              <a:rPr lang="en-US" sz="1400" dirty="0"/>
              <a:t>MFA</a:t>
            </a:r>
            <a:r>
              <a:rPr lang="ru-RU" sz="1400" dirty="0"/>
              <a:t>, так что даже если хакер подобрал пароль, он не сможет пройти дальше, потому что у него нет доступа к вашему телефону для второго кода.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5636" y="251460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Уроки знаковых инцидентов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746773"/>
            <a:ext cx="7218346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46621" y="1720943"/>
            <a:ext cx="4647500" cy="1894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ru-RU" sz="1400" b="1" dirty="0">
                <a:solidFill>
                  <a:srgbClr val="000000"/>
                </a:solidFill>
              </a:rPr>
              <a:t>Ограбление Центрального банка Бангладеш в 2016 году</a:t>
            </a:r>
            <a:r>
              <a:rPr lang="en-US" sz="1400" dirty="0">
                <a:solidFill>
                  <a:srgbClr val="000000"/>
                </a:solidFill>
              </a:rPr>
              <a:t>:</a:t>
            </a:r>
          </a:p>
          <a:p>
            <a:pPr>
              <a:lnSpc>
                <a:spcPts val="2000"/>
              </a:lnSpc>
            </a:pPr>
            <a:r>
              <a:rPr lang="ru-RU" sz="1400" dirty="0">
                <a:solidFill>
                  <a:srgbClr val="000000"/>
                </a:solidFill>
              </a:rPr>
              <a:t>Хакеры взломали сеть банка и отправили через систему SWIFT (международная система передачи финансовых сообщений) 35 фальшивых запросов на вывод почти 1 миллиарда долларов со счета банка из Нью-Йорка.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16907" y="3621755"/>
            <a:ext cx="5609566" cy="2676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ru-RU" sz="1400" b="1" dirty="0">
                <a:solidFill>
                  <a:srgbClr val="000000"/>
                </a:solidFill>
              </a:rPr>
              <a:t>Наш ответ</a:t>
            </a:r>
            <a:r>
              <a:rPr lang="en-US" sz="1400" b="1" dirty="0">
                <a:solidFill>
                  <a:srgbClr val="000000"/>
                </a:solidFill>
              </a:rPr>
              <a:t>:</a:t>
            </a:r>
          </a:p>
          <a:p>
            <a:pPr>
              <a:lnSpc>
                <a:spcPts val="2000"/>
              </a:lnSpc>
            </a:pPr>
            <a:r>
              <a:rPr lang="ru-RU" sz="1400" dirty="0">
                <a:solidFill>
                  <a:srgbClr val="000000"/>
                </a:solidFill>
              </a:rPr>
              <a:t>Изоляция критических систем: Терминалы для перевода денег должны быть полностью отрезаны от интернета и офисной почты.</a:t>
            </a:r>
            <a:br>
              <a:rPr lang="ru-RU" sz="1400" dirty="0">
                <a:solidFill>
                  <a:srgbClr val="000000"/>
                </a:solidFill>
              </a:rPr>
            </a:br>
            <a:r>
              <a:rPr lang="ru-RU" sz="1400" dirty="0">
                <a:solidFill>
                  <a:srgbClr val="000000"/>
                </a:solidFill>
              </a:rPr>
              <a:t>Контроль аномалий: Если банк внезапно начинает слать 35 запросов на огромные суммы ночью в выходные - система должна блокировать это автоматически.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ru-RU" sz="1400" dirty="0">
                <a:solidFill>
                  <a:srgbClr val="000000"/>
                </a:solidFill>
              </a:rPr>
              <a:t>Физическая безопасность ИТ: Экономия на сетевом оборудовании может стоить компании миллионов.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4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4696691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Завершение и прощание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696691" y="2078181"/>
            <a:ext cx="5818909" cy="2116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ru-RU" sz="1400" dirty="0">
                <a:solidFill>
                  <a:srgbClr val="000000"/>
                </a:solidFill>
              </a:rPr>
              <a:t>Безопасность - это не отсутствие угроз, а умение держать удар.</a:t>
            </a:r>
            <a:br>
              <a:rPr lang="ru-RU" sz="1400" dirty="0">
                <a:solidFill>
                  <a:srgbClr val="000000"/>
                </a:solidFill>
              </a:rPr>
            </a:br>
            <a:r>
              <a:rPr lang="ru-RU" sz="1400" dirty="0">
                <a:solidFill>
                  <a:srgbClr val="000000"/>
                </a:solidFill>
              </a:rPr>
              <a:t>Наша цель - не идеальный мир без хакеров, а банк, который продолжает работать, несмотря ни на что.</a:t>
            </a:r>
            <a:br>
              <a:rPr lang="ru-RU" sz="1400" dirty="0">
                <a:solidFill>
                  <a:srgbClr val="000000"/>
                </a:solidFill>
              </a:rPr>
            </a:br>
            <a:r>
              <a:rPr lang="ru-RU" sz="1400" dirty="0">
                <a:solidFill>
                  <a:srgbClr val="000000"/>
                </a:solidFill>
              </a:rPr>
              <a:t>Спасибо за внимание!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696691" y="3740727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924</Words>
  <Application>Microsoft Office PowerPoint</Application>
  <PresentationFormat>Широкоэкранный</PresentationFormat>
  <Paragraphs>59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student</cp:lastModifiedBy>
  <cp:revision>5</cp:revision>
  <dcterms:created xsi:type="dcterms:W3CDTF">2026-04-24T04:01:24Z</dcterms:created>
  <dcterms:modified xsi:type="dcterms:W3CDTF">2026-05-08T03:54:53Z</dcterms:modified>
</cp:coreProperties>
</file>